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0c4789c7af48ca" /><Relationship Type="http://schemas.openxmlformats.org/officeDocument/2006/relationships/extended-properties" Target="/docProps/app.xml" Id="R83c671238a504596" /><Relationship Type="http://schemas.openxmlformats.org/officeDocument/2006/relationships/officeDocument" Target="/ppt/presentation.xml" Id="R033a5966c0b2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ba1878be64dd3"/>
  </p:sldMasterIdLst>
  <p:notesMasterIdLst>
    <p:notesMasterId xmlns:r="http://schemas.openxmlformats.org/officeDocument/2006/relationships" r:id="Raaa4fe2d41ca44b5"/>
  </p:notesMasterIdLst>
  <p:sldIdLst>
    <p:sldId xmlns:r="http://schemas.openxmlformats.org/officeDocument/2006/relationships" id="256" r:id="Rd4de4ec9c02849b5"/>
    <p:sldId xmlns:r="http://schemas.openxmlformats.org/officeDocument/2006/relationships" id="257" r:id="R85ea5bb1f71b4917"/>
    <p:sldId xmlns:r="http://schemas.openxmlformats.org/officeDocument/2006/relationships" id="258" r:id="R366f254b2f654832"/>
    <p:sldId xmlns:r="http://schemas.openxmlformats.org/officeDocument/2006/relationships" id="259" r:id="Re62764ec97d44103"/>
    <p:sldId xmlns:r="http://schemas.openxmlformats.org/officeDocument/2006/relationships" id="260" r:id="Rabfbe7df6e734dce"/>
    <p:sldId xmlns:r="http://schemas.openxmlformats.org/officeDocument/2006/relationships" id="261" r:id="R38d129476d8b4524"/>
    <p:sldId xmlns:r="http://schemas.openxmlformats.org/officeDocument/2006/relationships" id="262" r:id="R16861765d4bb4953"/>
    <p:sldId xmlns:r="http://schemas.openxmlformats.org/officeDocument/2006/relationships" id="263" r:id="R961d7c8613d24bd6"/>
    <p:sldId xmlns:r="http://schemas.openxmlformats.org/officeDocument/2006/relationships" id="264" r:id="Rf729bd0f33c4464b"/>
    <p:sldId xmlns:r="http://schemas.openxmlformats.org/officeDocument/2006/relationships" id="265" r:id="R51f605cd607d436d"/>
    <p:sldId xmlns:r="http://schemas.openxmlformats.org/officeDocument/2006/relationships" id="266" r:id="Re3e84249f1c34aaa"/>
    <p:sldId xmlns:r="http://schemas.openxmlformats.org/officeDocument/2006/relationships" id="267" r:id="Rb9515abf48a445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35b86ea0a34b2f" /><Relationship Type="http://schemas.openxmlformats.org/officeDocument/2006/relationships/slideMaster" Target="/ppt/slideMasters/slideMaster1.xml" Id="R29cba1878be64dd3" /><Relationship Type="http://schemas.openxmlformats.org/officeDocument/2006/relationships/notesMaster" Target="/ppt/notesMasters/notesMaster1.xml" Id="Raaa4fe2d41ca44b5" /><Relationship Type="http://schemas.openxmlformats.org/officeDocument/2006/relationships/presProps" Target="/ppt/presProps.xml" Id="R3489f2d663a440c5" /><Relationship Type="http://schemas.openxmlformats.org/officeDocument/2006/relationships/tableStyles" Target="/ppt/tableStyles.xml" Id="R7789c1d2870849b2" /><Relationship Type="http://schemas.openxmlformats.org/officeDocument/2006/relationships/slide" Target="/ppt/slides/slide1.xml" Id="Rd4de4ec9c02849b5" /><Relationship Type="http://schemas.openxmlformats.org/officeDocument/2006/relationships/slide" Target="/ppt/slides/slide2.xml" Id="R85ea5bb1f71b4917" /><Relationship Type="http://schemas.openxmlformats.org/officeDocument/2006/relationships/slide" Target="/ppt/slides/slide3.xml" Id="R366f254b2f654832" /><Relationship Type="http://schemas.openxmlformats.org/officeDocument/2006/relationships/slide" Target="/ppt/slides/slide4.xml" Id="Re62764ec97d44103" /><Relationship Type="http://schemas.openxmlformats.org/officeDocument/2006/relationships/slide" Target="/ppt/slides/slide5.xml" Id="Rabfbe7df6e734dce" /><Relationship Type="http://schemas.openxmlformats.org/officeDocument/2006/relationships/slide" Target="/ppt/slides/slide6.xml" Id="R38d129476d8b4524" /><Relationship Type="http://schemas.openxmlformats.org/officeDocument/2006/relationships/slide" Target="/ppt/slides/slide7.xml" Id="R16861765d4bb4953" /><Relationship Type="http://schemas.openxmlformats.org/officeDocument/2006/relationships/slide" Target="/ppt/slides/slide8.xml" Id="R961d7c8613d24bd6" /><Relationship Type="http://schemas.openxmlformats.org/officeDocument/2006/relationships/slide" Target="/ppt/slides/slide9.xml" Id="Rf729bd0f33c4464b" /><Relationship Type="http://schemas.openxmlformats.org/officeDocument/2006/relationships/slide" Target="/ppt/slides/slide10.xml" Id="R51f605cd607d436d" /><Relationship Type="http://schemas.openxmlformats.org/officeDocument/2006/relationships/slide" Target="/ppt/slides/slide11.xml" Id="Re3e84249f1c34aaa" /><Relationship Type="http://schemas.openxmlformats.org/officeDocument/2006/relationships/slide" Target="/ppt/slides/slide12.xml" Id="Rb9515abf48a4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9ce087b824c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08e8c048d54e2e" /><Relationship Type="http://schemas.openxmlformats.org/officeDocument/2006/relationships/notesMaster" Target="/ppt/notesMasters/notesMaster1.xml" Id="Rd884c6ece36c4c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f7ae4a78b4cf9" /><Relationship Type="http://schemas.openxmlformats.org/officeDocument/2006/relationships/notesMaster" Target="/ppt/notesMasters/notesMaster1.xml" Id="R6506fbf71ec04c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06859c0b8e4f42" /><Relationship Type="http://schemas.openxmlformats.org/officeDocument/2006/relationships/notesMaster" Target="/ppt/notesMasters/notesMaster1.xml" Id="R1a24ba4e315d44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3dfc01f0e84a7c" /><Relationship Type="http://schemas.openxmlformats.org/officeDocument/2006/relationships/notesMaster" Target="/ppt/notesMasters/notesMaster1.xml" Id="R2175456947d746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364831a3cf4a53" /><Relationship Type="http://schemas.openxmlformats.org/officeDocument/2006/relationships/notesMaster" Target="/ppt/notesMasters/notesMaster1.xml" Id="R22e56422d9c247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6df9bad9884142" /><Relationship Type="http://schemas.openxmlformats.org/officeDocument/2006/relationships/notesMaster" Target="/ppt/notesMasters/notesMaster1.xml" Id="Rd223a000467a4d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c7256dfe7d4d67" /><Relationship Type="http://schemas.openxmlformats.org/officeDocument/2006/relationships/notesMaster" Target="/ppt/notesMasters/notesMaster1.xml" Id="R90e48b1bb28d4a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864f24cd414c44" /><Relationship Type="http://schemas.openxmlformats.org/officeDocument/2006/relationships/notesMaster" Target="/ppt/notesMasters/notesMaster1.xml" Id="R814f423e789444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5fb2e538914209" /><Relationship Type="http://schemas.openxmlformats.org/officeDocument/2006/relationships/notesMaster" Target="/ppt/notesMasters/notesMaster1.xml" Id="R2d11cbd7db8049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a5995c87ef4a14" /><Relationship Type="http://schemas.openxmlformats.org/officeDocument/2006/relationships/notesMaster" Target="/ppt/notesMasters/notesMaster1.xml" Id="R810600b88c614b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cdccac3f5b43ad" /><Relationship Type="http://schemas.openxmlformats.org/officeDocument/2006/relationships/notesMaster" Target="/ppt/notesMasters/notesMaster1.xml" Id="R0490273d74cb4c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bc8b2cb78e4a56" /><Relationship Type="http://schemas.openxmlformats.org/officeDocument/2006/relationships/notesMaster" Target="/ppt/notesMasters/notesMaster1.xml" Id="Rc4e392ae7ec24f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588c61cc146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0c2e0dd6f4dfa" /><Relationship Type="http://schemas.openxmlformats.org/officeDocument/2006/relationships/slideLayout" Target="/ppt/slideLayouts/slideLayout1.xml" Id="R5642b1d35778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42b1d35778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df833218e4913" /><Relationship Type="http://schemas.openxmlformats.org/officeDocument/2006/relationships/notesSlide" Target="/ppt/notesSlides/notesSlide1.xml" Id="R30c1bacf7be749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24438b28649e6" /><Relationship Type="http://schemas.openxmlformats.org/officeDocument/2006/relationships/notesSlide" Target="/ppt/notesSlides/notesSlide2.xml" Id="R60d9f242ace64e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c0ef8cb714928" /><Relationship Type="http://schemas.openxmlformats.org/officeDocument/2006/relationships/notesSlide" Target="/ppt/notesSlides/notesSlide3.xml" Id="Rf853e1059b3d43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240d62f1d4e7f" /><Relationship Type="http://schemas.openxmlformats.org/officeDocument/2006/relationships/notesSlide" Target="/ppt/notesSlides/notesSlide4.xml" Id="R5023e01f419e4e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670094a694bfe" /><Relationship Type="http://schemas.openxmlformats.org/officeDocument/2006/relationships/notesSlide" Target="/ppt/notesSlides/notesSlide5.xml" Id="R76ec24a2b2c1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753e44b084a68" /><Relationship Type="http://schemas.openxmlformats.org/officeDocument/2006/relationships/notesSlide" Target="/ppt/notesSlides/notesSlide6.xml" Id="Rd81af430a5934e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3d9e76e574b93" /><Relationship Type="http://schemas.openxmlformats.org/officeDocument/2006/relationships/notesSlide" Target="/ppt/notesSlides/notesSlide7.xml" Id="R9ed3f145645f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54ce4e4be454b" /><Relationship Type="http://schemas.openxmlformats.org/officeDocument/2006/relationships/notesSlide" Target="/ppt/notesSlides/notesSlide8.xml" Id="R328977fe7a1f40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0604453904ba8" /><Relationship Type="http://schemas.openxmlformats.org/officeDocument/2006/relationships/notesSlide" Target="/ppt/notesSlides/notesSlide9.xml" Id="R020ea69f3a5d46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0f050db754de0" /><Relationship Type="http://schemas.openxmlformats.org/officeDocument/2006/relationships/notesSlide" Target="/ppt/notesSlides/notesSlide10.xml" Id="Re3663d9a610442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ba1e24ab842ea" /><Relationship Type="http://schemas.openxmlformats.org/officeDocument/2006/relationships/notesSlide" Target="/ppt/notesSlides/notesSlide11.xml" Id="R96050576d26144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20e4c7d284826" /><Relationship Type="http://schemas.openxmlformats.org/officeDocument/2006/relationships/notesSlide" Target="/ppt/notesSlides/notesSlide12.xml" Id="Rfca5e331ed7548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49514-A20D-4A5B-9E05-6A6A4765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B0F19"/>
                </a:solidFill>
              </a:defRPr>
            </a:pPr>
            <a:r>
              <a:rPr sz="5250" b="1">
                <a:solidFill>
                  <a:srgbClr val="0B0F19"/>
                </a:solidFill>
              </a:rPr>
              <a:t>KAVACH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6FDC2-6D91-4BB6-86F8-50D10A92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</a:defRPr>
            </a:pPr>
            <a:r>
              <a:rPr sz="1875" b="0">
                <a:solidFill>
                  <a:srgbClr val="5B6472"/>
                </a:solidFill>
              </a:rPr>
              <a:t>Industrial Decision Intelligence for live machines, predictive maintenance, AI assistance, enterprise operations, and production-grade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F0D1F-B19A-4103-A8C0-C2342F93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2032D-8ACE-4791-B968-856C3EE4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Production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9022B-850C-4FB3-B3E7-B28336AC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Next.js frontend | Express + Socket.IO backend | MongoDB Atlas |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81E7F-30ED-4A7A-B428-CB6C6400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6300"/>
            <a:ext cx="2571750" cy="40005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E2E6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498B4-143C-4FFC-B04C-AF5FCF93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57300"/>
            <a:ext cx="1924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1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817C6-F510-4F09-821A-A98D2DDF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43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8DFF"/>
                </a:solidFill>
              </a:defRPr>
            </a:pPr>
            <a:r>
              <a:rPr sz="1275" b="1">
                <a:solidFill>
                  <a:srgbClr val="1C8DFF"/>
                </a:solidFill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1F56-C485-4334-AEDE-4AC27443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05000"/>
            <a:ext cx="1924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67648-6F14-45F8-A2F0-0F83B2B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907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Machines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D6CA9-D02E-4424-89DD-3EC7424E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1924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C4D08-5B34-4050-8465-55DDBC77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38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0D1A6-E2D9-42DB-9D80-9A03D3A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00400"/>
            <a:ext cx="1924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A929B-0D7A-4B84-9DA4-EE611AF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AI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62E3D-608A-4E1A-8203-B27D3D6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1924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E5303-28F6-450D-AFB4-83D50DD2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338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A2EA7-C94D-4471-B62A-296DDDBF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2459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4D4BBD-699B-4A59-9028-FAC6595E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74374-D457-4B64-BAF7-98174EA5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Industrial teams need one reliable operational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C560B-0CE8-42CE-9FD5-6EC2406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6BCC8-9DD0-4D86-B3C0-36C629CD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264BC-3807-4272-8BED-1B29CFF4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F5406-D290-4A7F-8CB9-FAAADFA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Disconnected systems make machine health hard to act 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B9382-D3E6-46A9-9864-D90C0EE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DB8C-C444-4301-8A88-82F31A79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9"/>
                </a:solidFill>
              </a:defRPr>
            </a:pPr>
            <a:r>
              <a:rPr sz="1425" b="0">
                <a:solidFill>
                  <a:srgbClr val="0B0F19"/>
                </a:solidFill>
              </a:rPr>
              <a:t>Machine status, telemetry, work orders, alerts, and audit trails live in separate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40096-C434-41A1-AC49-F0960F3F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6ED8E-559F-4900-A492-B778FC86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9"/>
                </a:solidFill>
              </a:defRPr>
            </a:pPr>
            <a:r>
              <a:rPr sz="1425" b="0">
                <a:solidFill>
                  <a:srgbClr val="0B0F19"/>
                </a:solidFill>
              </a:rPr>
              <a:t>Production issues become visible late, after downtime risk is already high.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C0045-42A4-4922-9DB8-6AA8627E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05883-0FAB-4AF5-AA5A-91F31DF8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9"/>
                </a:solidFill>
              </a:defRPr>
            </a:pPr>
            <a:r>
              <a:rPr sz="1425" b="0">
                <a:solidFill>
                  <a:srgbClr val="0B0F19"/>
                </a:solidFill>
              </a:rPr>
              <a:t>Teams need real-time visibility without weakening security, CORS, or deployment hygiene.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A3A49-83F4-47E1-9BB6-CA70702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CB015-A969-42BD-8536-65A44232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9"/>
                </a:solidFill>
              </a:defRPr>
            </a:pPr>
            <a:r>
              <a:rPr sz="1425" b="0">
                <a:solidFill>
                  <a:srgbClr val="0B0F19"/>
                </a:solidFill>
              </a:rPr>
              <a:t>Manual diagnosis slows action when maintenance and operations need a shared source of truth.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AABE3-85D2-407A-A77B-EA8F340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3524250" cy="3333750"/>
          </a:xfrm>
          <a:prstGeom xmlns:a="http://schemas.openxmlformats.org/drawingml/2006/main" prst="roundRect">
            <a:avLst>
              <a:gd name="adj" fmla="val 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4CE5A-4C5B-41BD-AE54-85752889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Operational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B2FF7-1A90-4301-BEBF-A8361F19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12954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CA91E-F519-4790-9420-ECC0B2A2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848"/>
                </a:solidFill>
              </a:defRPr>
            </a:pPr>
            <a:r>
              <a:rPr sz="2100" b="1">
                <a:solidFill>
                  <a:srgbClr val="D94848"/>
                </a:solidFill>
              </a:rPr>
              <a:t>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8CD80-D90E-45DA-AFC7-C56F81C9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Machine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5FBD4-8F2D-4BAE-84F6-B9483D36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2954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90881-F956-49A0-AFBD-E7AE776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848"/>
                </a:solidFill>
              </a:defRPr>
            </a:pPr>
            <a:r>
              <a:rPr sz="2100" b="1">
                <a:solidFill>
                  <a:srgbClr val="D94848"/>
                </a:solidFill>
              </a:rPr>
              <a:t>Split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C5BF4-9951-4DE8-ABD3-F3240B9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194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Data 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74572-B90E-487C-B09C-4776FC2A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00500"/>
            <a:ext cx="12954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7B7E7-79F3-485A-A3C7-986F9607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848"/>
                </a:solidFill>
              </a:defRPr>
            </a:pPr>
            <a:r>
              <a:rPr sz="2100" b="1">
                <a:solidFill>
                  <a:srgbClr val="D94848"/>
                </a:solidFill>
              </a:rPr>
              <a:t>Slow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37646-1D0B-4560-86C5-864FC98C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Action lag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3664C9-33AB-4A6F-AEFF-A6E916FC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2954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E19AB-5254-4246-A4DA-CA90447B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719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848"/>
                </a:solidFill>
              </a:defRPr>
            </a:pPr>
            <a:r>
              <a:rPr sz="2100" b="1">
                <a:solidFill>
                  <a:srgbClr val="D94848"/>
                </a:solidFill>
              </a:rPr>
              <a:t>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AF289-F2AD-4BCD-8DB1-946C0538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48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Production config</a:t>
            </a:r>
          </a:p>
        </p:txBody>
      </p:sp>
    </p:spTree>
    <p:extLst>
      <p:ext uri="{BB962C8B-B14F-4D97-AF65-F5344CB8AC3E}">
        <p14:creationId xmlns:p14="http://schemas.microsoft.com/office/powerpoint/2010/main" val="1843798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C6E1A-4CE0-4376-A83E-555CFF20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937D4-16B8-400F-9B2E-62F10B15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Kavach brings monitoring, intelligence, and action into one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62E66-1736-48E3-839F-3E29CBA7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73E4F-ACE0-4281-80B5-2394EE81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7C706-9881-4A0B-B1D3-846FCD12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84276-17B0-4EA0-BA7E-06591C7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The platform connects machine data, enterprise context, AI analysis, and operational workflows through a production API and live Socket.IO channel.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2FD37-C0E2-422D-AC68-00F2870C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43250" cy="16002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0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A1202-BBA3-4B7A-80AB-ABDC939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See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6DF18-9ABD-4EBC-8E46-FD883387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Dashboards, machines, charts, notifications, and live telemetry.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10FB2-C9CE-4A16-BF9D-F049267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143250" cy="16002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1E5B1-4B9A-4EAD-952B-CB0CF1CB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Understand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74B56-F63E-4A39-A6F9-EAE0C716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AI overview, fleet health, predictions, root cause, and copilot reports.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92C01-E7D6-42DC-B723-9CBFB954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43250" cy="16002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0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C9531-D1FD-4AAF-BC0A-40A8F8F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D1379-B633-42AC-915D-6C53A6B8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Work orders, alerts, audit logs, settings, users, and enterprise operations.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49D0C-331F-4FF5-905C-79536AFB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9"/>
                </a:solidFill>
              </a:defRPr>
            </a:pPr>
            <a:r>
              <a:rPr sz="1350" b="0">
                <a:solidFill>
                  <a:srgbClr val="0B0F19"/>
                </a:solidFill>
              </a:rPr>
              <a:t>Production constraints are first-class: HTTPS API calls, exact CORS origin, WSS Socket.IO, bcrypt passwords, MongoDB readiness, and Render deployment.</a:t>
            </a:r>
          </a:p>
        </p:txBody>
      </p:sp>
    </p:spTree>
    <p:extLst>
      <p:ext uri="{BB962C8B-B14F-4D97-AF65-F5344CB8AC3E}">
        <p14:creationId xmlns:p14="http://schemas.microsoft.com/office/powerpoint/2010/main" val="1398257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98AFC-8EF1-4231-AEBC-C2BA4BDC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55317-A653-4DB2-97E8-A10387E2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Feature coverage maps directly to daily plant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0947E-3177-4D58-9C2A-BB670E8E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38802-6C25-46F2-A331-FE1D84D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86F43-53BC-4F70-BDC2-90A59D2F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A8DF0-1669-44F7-AD79-30D169C2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34290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C0B58-8876-4684-A8A9-A5A3F969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59AF0-08A2-4832-9243-10FA14A7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25B11-91E1-4B2A-AE0E-17750184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Dashboard and executive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47201-C757-4BAE-B56A-CF38273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6E317-016C-460E-8CF6-57586C19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Machine registry and detail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51947-8636-4EB1-A723-492DADBB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E76B2-370E-473D-8470-4E1EB0F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Digital twin and live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3AC9D-6433-4279-A4CD-3F5D313C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381250" cy="34290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9791C-F03E-429F-A1A1-A33CDF5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Maintenance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981A8-0ABE-4670-B145-06F5E34A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157A1-EB76-470B-A011-0E5BF956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527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Predictive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29722-3E11-4AA7-B64C-CA84D55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28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A03A0-3454-4374-AFF1-36F8B575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Work orders and assignment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D0321-534A-4C1F-857C-A9351E1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38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D70AC-8A41-439F-A7CF-CDE02660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719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Reports and analytics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69975-F3A1-4195-9B7C-B88FDC6C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381250" cy="34290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49577-F386-49D7-8D6A-4AD1EC9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Enterprise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042E3-960D-4F6B-88A4-EFD425FD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786DE-2D19-40DC-A976-0D0CD499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Organizations, plants, regions, areas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E21E1-4468-445B-B517-077CB0B9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28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0639E-5750-46D2-9C74-10E69B7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623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Engineers and onboarding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FEB55-15A7-42D7-AD96-66985D43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38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0F051-9B3E-4174-B91B-A0E553B3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Audit, users, settings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0FD36-8794-4191-ACCB-F76B70D2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381250" cy="34290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1C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4B636-3D55-45CA-9599-0A4D3D0D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8DFF"/>
                </a:solidFill>
              </a:defRPr>
            </a:pPr>
            <a:r>
              <a:rPr sz="1800" b="1">
                <a:solidFill>
                  <a:srgbClr val="1C8DFF"/>
                </a:solidFill>
              </a:rPr>
              <a:t>Intelligence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F7F618-0895-4294-B6D7-B943ACAE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DB93A-86A8-41DB-9372-DDAAB82D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AI fleet health and insights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00996-3AB2-419E-A065-ED0BB69E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FB2FF8-F6AC-4F7D-8A79-718988D9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623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Copilot chat and 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C01D9C-275B-4926-A330-1A41A0D9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38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23E982-159E-460E-9840-42C234E1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1704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9"/>
                </a:solidFill>
              </a:defRPr>
            </a:pPr>
            <a:r>
              <a:rPr sz="1200" b="0">
                <a:solidFill>
                  <a:srgbClr val="0B0F19"/>
                </a:solidFill>
              </a:rPr>
              <a:t>Alerts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846577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D19A38-1FC0-485B-9F94-3A06CC47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F9D07-D20D-4B02-9D1A-78586CF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The architecture separates UI, API, realtime, and persistence cleanly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AEFF-ABD8-4F80-806C-007DB653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EB6DA-71E5-4753-A1D7-E079EBA2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69A75-1C43-4BE5-8CD8-5D433026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E6A8A-023C-478E-9FBF-9985544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133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9CFD5-9E65-451B-9474-D44F3DA4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95675" y="3076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8191F-EAA2-40DE-9D86-BC74CEF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133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C1524-CA74-4BF4-B69E-E3B91516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53225" y="3076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8ACF5-6155-480E-9CBA-46114DF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3133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5638E-1A15-431E-ABEC-DEA3DD9F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10775" y="3076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9073E-8E63-4535-9A79-B9D80044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0002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FC61F-C428-4648-9975-9697BA1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Browser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CA5D-91E2-4611-B044-1E787971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Next.js app uses HTTPS API calls and Socket.IO client.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2B558-74AA-4DDA-8897-E8AAC1E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23431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57120-C1F4-4E49-B820-38EB08FE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860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6CCD8-F636-47A8-AD30-691A754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57525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Dashboard, machines, enterprise, analytics, AI, alerts, audit, profile.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70E13-7F63-4BD6-9F38-6A2F3008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23431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DD730-E85F-41EF-BBD1-9F791B3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860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5A744-94A1-4E3D-B02B-2EBFA5E9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Express REST API, auth, CORS, Socket.IO gateway, services.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7A897-63C0-41DF-9F40-F1DFDF19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33625"/>
            <a:ext cx="1428750" cy="1619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70EFC-EDA8-48E5-903F-2D598AA3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8602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MongoDB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8FAFA-65EE-45A4-A0F9-36CBB3AA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57525"/>
            <a:ext cx="1085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Atlas-backed operational data via Mongoose.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598EC-497F-4D3B-A905-4C5A2BF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6251">
            <a:off x="5572125" y="4581525"/>
            <a:ext cx="23616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C214F-90B9-4948-9960-697E28A7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3749">
            <a:off x="7781925" y="3895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E19B6-0C9D-4576-AA45-83FD568C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31432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0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14878-0DFD-4E44-ACC8-7D58E488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Optional IoT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45C52-D726-438F-AD4B-49D10DF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28003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MQTT/device telemetry enters backend ingestion before live UI broadcast.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E9D1E-5C43-4551-8150-1FE697AD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03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8DFF"/>
                </a:solidFill>
              </a:defRPr>
            </a:pPr>
            <a:r>
              <a:rPr sz="1125" b="1">
                <a:solidFill>
                  <a:srgbClr val="1C8DFF"/>
                </a:solidFill>
              </a:rPr>
              <a:t>HTTPS / WSS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A3B35-E555-41DB-BB74-2529352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8DFF"/>
                </a:solidFill>
              </a:defRPr>
            </a:pPr>
            <a:r>
              <a:rPr sz="1125" b="1">
                <a:solidFill>
                  <a:srgbClr val="1C8DFF"/>
                </a:solidFill>
              </a:rPr>
              <a:t>REST + Socket.IO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60B02-E121-438A-864C-C4EEFF34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8DFF"/>
                </a:solidFill>
              </a:defRPr>
            </a:pPr>
            <a:r>
              <a:rPr sz="1125" b="1">
                <a:solidFill>
                  <a:srgbClr val="1C8DFF"/>
                </a:solidFill>
              </a:rPr>
              <a:t>MONGO_URI</a:t>
            </a:r>
          </a:p>
        </p:txBody>
      </p:sp>
    </p:spTree>
    <p:extLst>
      <p:ext uri="{BB962C8B-B14F-4D97-AF65-F5344CB8AC3E}">
        <p14:creationId xmlns:p14="http://schemas.microsoft.com/office/powerpoint/2010/main" val="482782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95536-66B9-40C7-8281-7350B339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F41BD-6248-40BF-9FCE-A0D7630F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The stack is modern, realtime, and deployment-ready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F60BA-91AC-44C8-ADD8-6690665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C7829-691F-4A11-A83B-72ED577E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864A6-7A06-481B-800E-0292218B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0D939-2CE7-470A-92D8-94FA5016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AC745-520E-4CF3-B81C-4774C896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2EFE0-259A-4CFC-B900-58E28FAB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5B07A-F6C7-40C8-959A-753DE12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Next.js 16, React 19, TypeScript, Tailwind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3C164-0B7E-4BAE-83FC-7B7BA392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0867B-0222-4182-92A3-CB0B0663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050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0A3E1-EAEE-444A-884F-CC7227E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Visualization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E950C-A5DD-4FF6-AFD4-2F8EF20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Three.js, React Three Fiber, Drei, Recharts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AD3C0-62E7-4D4A-8E40-C709AF94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107ED-5035-4A28-B7D3-4F59936C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52634-DB76-4817-84C6-806BA334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41C80-C30F-42C5-9B62-C84B41E4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Node.js 22, Express 5, Mongoose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A3E31-D216-457D-B647-F6B62356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0B8A7-A40A-458E-9698-0B74859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BC534-3375-465B-9B01-A19C6B1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25F76-8405-4668-98D4-7B6D85BB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MongoDB Atlas, bcrypt password hashing, JWT auth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4DCD7-7D3D-4FC2-BB55-B5F7F45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74602-B25C-4CD2-91E4-1830C66E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910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44D01-3F1A-4EF8-9A70-3D1D11A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Realtime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886EB-71CF-4484-8389-972AF085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Socket.IO websocket with polling 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CC18E-8AF7-4E59-B200-02C395F1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ACECC7-A85E-4A82-89DF-067FA0B7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196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2282E-F374-45A1-BF35-8717137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833E1-A7EE-47E5-AA5B-29D30DC2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Render services, Docker Compose reference, HTTPS production URLs</a:t>
            </a:r>
          </a:p>
        </p:txBody>
      </p:sp>
    </p:spTree>
    <p:extLst>
      <p:ext uri="{BB962C8B-B14F-4D97-AF65-F5344CB8AC3E}">
        <p14:creationId xmlns:p14="http://schemas.microsoft.com/office/powerpoint/2010/main" val="820747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10187-AF4D-4388-9069-61ECEF58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AI &amp; IOT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D3BA5-2974-451B-A601-252F7E79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AI and IoT convert telemetry into maintenance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EC4BD-5B3F-4CAC-8075-DB862821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5D3D9-8E47-471A-A53D-07544D0F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2C4A6-8E08-428A-8F27-9BEED5C1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40C48-2A00-46C6-BCB1-09F5CF1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623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AFC3B-A39C-42FF-AA9C-4F6154D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48025" y="31051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4A696-ADA9-4DD0-BC8D-338F46DD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057400" cy="1857375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0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29EB-4ED2-47A0-A30F-85CC3B9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Device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B3958-64B2-4821-AFBF-D35A2B8C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1714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Temperature, vibration, pressure, voltage, current, energy.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2A4C7-1BA2-45A3-8A01-4EB05281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8DFF"/>
                </a:solidFill>
              </a:defRPr>
            </a:pPr>
            <a:r>
              <a:rPr sz="1350" b="1">
                <a:solidFill>
                  <a:srgbClr val="1C8D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911E5-BA6C-44FE-9FA5-F9A58CA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1623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00A00-43DC-4218-9918-8D9D60C1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05525" y="31051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C5FC2-58EB-4E9B-BDC9-F9E49E8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057400" cy="1857375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E810E-F3EB-4797-9133-1A9BC07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907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Backend ingestion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005E4-0550-4603-9634-456F9A16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62275"/>
            <a:ext cx="1714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Device-authenticated IoT APIs or optional MQTT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35602-4C25-488D-99E9-C691D72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053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8DFF"/>
                </a:solidFill>
              </a:defRPr>
            </a:pPr>
            <a:r>
              <a:rPr sz="1350" b="1">
                <a:solidFill>
                  <a:srgbClr val="1C8DF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6066E-88C3-432B-940D-6D50EDB1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1623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DA1B4-5F28-4269-B885-E87B5D09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63025" y="31051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4E971-DADF-468A-AA3E-BA1B7D03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057400" cy="1857375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28318-DE6D-480E-B906-F3D82B98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Prediction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187D0-6B1C-4A71-B206-EAAFF31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1714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Predictive overview, AI insights, anomaly and forecast updates.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04CED-9B76-4355-95A6-3D4A150B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8DFF"/>
                </a:solidFill>
              </a:defRPr>
            </a:pPr>
            <a:r>
              <a:rPr sz="1350" b="1">
                <a:solidFill>
                  <a:srgbClr val="1C8D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B1BAC-4520-4647-A9AD-E87C6884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057400" cy="1857375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0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0DAD4-6F30-4D47-8748-FEE466D3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907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Live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74FD34-9643-4CD6-B6F0-6AAE0BDB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62275"/>
            <a:ext cx="1714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Socket.IO broadcasts alerts, machine updates, and work order changes.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E0250-A87B-4E15-B894-A0B5172F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053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8DFF"/>
                </a:solidFill>
              </a:defRPr>
            </a:pPr>
            <a:r>
              <a:rPr sz="1350" b="1">
                <a:solidFill>
                  <a:srgbClr val="1C8D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981CBD-DCA5-47F8-BD3F-3DE34CB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Room model: plant:join, machine:join, heartbeat acknowledgements, and machine-specific broadcasts keep live views scoped.</a:t>
            </a:r>
          </a:p>
        </p:txBody>
      </p:sp>
    </p:spTree>
    <p:extLst>
      <p:ext uri="{BB962C8B-B14F-4D97-AF65-F5344CB8AC3E}">
        <p14:creationId xmlns:p14="http://schemas.microsoft.com/office/powerpoint/2010/main" val="1358136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271CF-DF2A-488C-8D5A-CD636D7E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DASHBOARD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F087A-7827-4FA0-8D9F-4113B7D2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Dashboard screens focus on visibility, action, and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3C274-129C-4CD4-80CF-85BB79C3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BB6BC-026C-4909-AC78-80E115E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EB80-4EA0-4A72-A837-738BDFCD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A45FE-7256-435A-995D-21435719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857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6685D-7805-4DAF-BF71-87E83D3F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6DAA6-A04C-44D2-B3A9-41E057A6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Executive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C35D2-D9DE-4215-A8AD-F43AD339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CF5B1-7DD4-4C97-8DDE-D485BD37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Plant KPIs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49458-72FF-496F-9330-8576A57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4795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4403A-44F9-47ED-B85D-B6A43C70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527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Live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7F6FC-C7E5-4B29-8A27-45571578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F2398-2336-4ADC-ABE5-64E3B73D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527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Fleet 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B805F-5680-407E-9170-F0D1493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857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05322-6CAD-4D81-8DB2-2071AEB9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57280-5316-49EA-83E0-3B98F1EB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Machines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32B0A-92DA-47BE-B077-041CB91B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95107-BC43-4084-BF75-E8FDA1AF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Registry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97AA0-4FB1-4E8A-8718-921A4D1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4B01E-5A3E-4173-AFF4-7AD1DF95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527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8B97E-147D-48B4-A669-AE7934C3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DB614-245C-462E-9409-E5B7C3F9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527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Digital twin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21911-AE73-499B-98D2-4E783A35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857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87DB5-03F9-49C8-BA4D-B848B35B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FB5FD-D664-4881-AF5A-A1D62E6B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678CD-4C39-4DC1-8114-3EEA4730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78E4F6-44E1-4475-A0B5-8BDBDDA1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Charts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1A811-3C66-4308-8C62-B555E1DF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6250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2396E-CD2E-4564-BEAE-75249CB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672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Heatmap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847CD-A249-4BBD-89A5-C1BDC479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6250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181455-5EF2-4D4D-8455-9D2E6291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672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CSV export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D37678-F9A7-4071-BA84-BC1679CA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85775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B8613F-F1CB-4B97-B137-2284E8CF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931B6-B4AA-4D2D-AAA4-FCA657AB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Copilot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F7172-3A3A-46C2-8648-4CF110D9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E5F595-8438-4A64-988A-BFE33D5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Chat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0C2506-8C12-4F04-B66F-A7413729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A3F029-8D5E-48F5-A7AA-78C39B4B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672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800408-CB87-4DA1-8D69-B39890CA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AD7EDC-5A60-42D5-B6D2-915F690C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672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E7F4"/>
                </a:solidFill>
              </a:defRPr>
            </a:pPr>
            <a:r>
              <a:rPr sz="1050" b="0">
                <a:solidFill>
                  <a:srgbClr val="DDE7F4"/>
                </a:solidFill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207522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118DB-1470-433B-8965-4C2F5F42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FBFD4-9D6C-431E-A5DF-CC887B1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Render and MongoDB Atlas define the production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4F6D9-5DD9-4E93-80CC-CA657767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F4781-4D09-472D-9B8C-EB8D9251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11B07-80EF-46D4-89A3-482C7424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C2D11-6C54-4EF0-B9F7-D12E5B29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6670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59A9C-37F3-4C5C-AAF8-83C84DC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Render 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5E17B-ABA6-4B01-9BC8-852DF41B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Root: frontend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Build: npm ci &amp;&amp; npm run build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Start: npm run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99E1C-1C99-4E9A-9440-3BBF0954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46AF2-CDB9-4062-B86E-0481ADE2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621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Render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83DBA-604E-4E86-93F2-F95F35F1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Root: backend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Build: npm ci --omit=dev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Health: /api/health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016CA-1455-4728-81EC-8A894840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24765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2CD37-1C48-4B24-AAA5-8FAEAF63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621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MongoDB Atlas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E7EFC-A616-4394-8BD3-BC18C6D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MONGO_URI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Connection retries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Readiness before requests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0C141-803C-451E-A47F-E721236B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25146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096A7-D758-4E26-AAB9-276AE411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95825" y="2457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1068F-B9F0-43B6-A785-C007DDA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5146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95581-CF87-4CC9-9F16-F0191C5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82025" y="2457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01E72-A91C-4EEF-A486-BBC0EB5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Production variables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B6925-74CE-4E36-9655-6808B707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D311D-1FA3-4946-AB2F-23879515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946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9"/>
                </a:solidFill>
              </a:defRPr>
            </a:pPr>
            <a:r>
              <a:rPr sz="1350" b="0">
                <a:solidFill>
                  <a:srgbClr val="0B0F19"/>
                </a:solidFill>
              </a:rPr>
              <a:t>Frontend: NEXT_PUBLIC_API_URL and NEXT_PUBLIC_SOCKET_URL use https://kavach-spgh.onrender.com.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E6470-1FC9-4E02-BFAC-A8D6B3D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F48713-EA30-41DF-8013-F7CD79D8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946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9"/>
                </a:solidFill>
              </a:defRPr>
            </a:pPr>
            <a:r>
              <a:rPr sz="1350" b="0">
                <a:solidFill>
                  <a:srgbClr val="0B0F19"/>
                </a:solidFill>
              </a:rPr>
              <a:t>Backend: CORS_ORIGIN allows https://kavach-1-7749.onrender.com.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57D6C-B8EC-44F4-BA72-97F69AE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1345A-71D7-4EE0-B7D2-A62CE354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946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9"/>
                </a:solidFill>
              </a:defRPr>
            </a:pPr>
            <a:r>
              <a:rPr sz="1350" b="0">
                <a:solidFill>
                  <a:srgbClr val="0B0F19"/>
                </a:solidFill>
              </a:rPr>
              <a:t>Socket.IO: frontend connects through the backend origin and upgrades to WSS.</a:t>
            </a:r>
          </a:p>
        </p:txBody>
      </p:sp>
    </p:spTree>
    <p:extLst>
      <p:ext uri="{BB962C8B-B14F-4D97-AF65-F5344CB8AC3E}">
        <p14:creationId xmlns:p14="http://schemas.microsoft.com/office/powerpoint/2010/main" val="1412072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36E75B-2722-4806-A252-877BBDD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CHALLENGES &amp;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136FE-011E-4B6E-814A-937AA5D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Production hardening turned failures into operating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81D6F-FFCC-4A74-9739-50F788BC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045E5-23D0-44B5-B98D-7D7DDAA0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670B4-A61A-4646-ACA3-5B5AC92C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1046-0006-418B-A9DA-81BC9383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CB153-B7F6-457D-BBF8-7E78B3B3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57350"/>
            <a:ext cx="714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780EC-5B09-4FF7-83D2-E509A355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Mixed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AB009-F5B6-447A-BB8A-59A7AAB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90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Centralized API helpers enforce HTTPS and strip insecure socket/API variants.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42788-12A4-4898-B4C9-5BFA6C60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0E466-F7D2-4624-A3BE-51D4241B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714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EB153-0DE0-48BF-A93E-49B1549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CORS and websocket handshakes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3BE5F-7628-4018-ACAF-9E4C31AD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Express and Socket.IO share an exact production CORS policy.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D8AD1-DCE2-47BF-B503-0DD39CA0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2F933-4C04-43DB-A82E-120D475C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714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8A76D-A49F-45A6-9861-27A0227F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MongoDB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8D4AE-62C7-464B-8402-F40967E6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528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Server startup waits for successful Mongoose connection with retry logs.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21A7A-2611-4565-9D03-08FCF8F7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D8C1B-9A76-44E0-9426-309483F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714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3AF72-FA26-402F-9818-53C8ABC2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Invalid seeded 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072B5-7A68-4769-8FC1-B49165FD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Admin password is repaired as bcrypt and verified through login.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4A90F-9E06-4F34-B1C4-97D6C9AE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5F218-A536-45BF-850A-13DEF78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81550"/>
            <a:ext cx="714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0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C51B2-D1D7-4887-BBB2-CF362A41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Frontend QA polish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9E582-BE58-4B05-BE38-1980176A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Loading, empty, error, responsive, and icon states are consistent.</a:t>
            </a:r>
          </a:p>
        </p:txBody>
      </p:sp>
    </p:spTree>
    <p:extLst>
      <p:ext uri="{BB962C8B-B14F-4D97-AF65-F5344CB8AC3E}">
        <p14:creationId xmlns:p14="http://schemas.microsoft.com/office/powerpoint/2010/main" val="383715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BCB7A-C04B-4A68-A1C5-3651D790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719C0-E9CE-49BE-B7E0-FD8F19F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Future scope extends the same platform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FBDBB-E6AE-408C-9FFE-14B7361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0FC20-D04A-48CA-BE0A-E0C4B32C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B7820-0D64-4C9C-B8CC-1E555BC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6603A-22C7-428E-883C-38D6508D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8DFF"/>
                </a:solidFill>
              </a:defRPr>
            </a:pPr>
            <a:r>
              <a:rPr sz="3150" b="1">
                <a:solidFill>
                  <a:srgbClr val="1C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ACECD-6039-400F-93AB-BF172472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E9026-6687-48A6-9534-C737AE5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Deeper IoT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A5CB2-0C52-4588-8416-667A39AC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Broader device profiles, richer telemetry streams, and production MQTT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70D5F-92AF-4698-9CA9-1C3BCEE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907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8DFF"/>
                </a:solidFill>
              </a:defRPr>
            </a:pPr>
            <a:r>
              <a:rPr sz="3150" b="1">
                <a:solidFill>
                  <a:srgbClr val="1C8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6B19F-DA7E-46E1-A579-4842155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F426E-18FB-4530-9CF2-90BBB313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Advanced AI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150AC-E660-4D27-BC5D-A5365BD9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671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More automated root-cause, forecast, and maintenance-planning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417A2-26C1-455C-B521-A82A50F3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8DFF"/>
                </a:solidFill>
              </a:defRPr>
            </a:pPr>
            <a:r>
              <a:rPr sz="3150" b="1">
                <a:solidFill>
                  <a:srgbClr val="1C8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9BD69-BDCA-4475-8228-16A61407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DFF"/>
          </a:solidFill>
          <a:ln xmlns:a="http://schemas.openxmlformats.org/drawingml/2006/main" w="0">
            <a:solidFill>
              <a:srgbClr val="1C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1B49F-CD6F-47A7-A479-F6FDA62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Enterprise 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905CC-11E0-46CD-B4A0-6C38CD96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671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Stronger multi-tenant controls, reporting schedules, and audit retention operations.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CAEE6-3CA9-4825-B351-0E07BB1A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8DFF"/>
                </a:solidFill>
              </a:defRPr>
            </a:pPr>
            <a:r>
              <a:rPr sz="3150" b="1">
                <a:solidFill>
                  <a:srgbClr val="1C8D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5CD41-DD97-429B-8E8A-471E1401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F5CA3-FBC6-4311-B2B1-2057EF6E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Operational resilience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CB03E-ED6A-49D1-AADF-F55D2477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671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Backups, monitoring, deployment rollback, and production runbooks.</a:t>
            </a:r>
          </a:p>
        </p:txBody>
      </p:sp>
    </p:spTree>
    <p:extLst>
      <p:ext uri="{BB962C8B-B14F-4D97-AF65-F5344CB8AC3E}">
        <p14:creationId xmlns:p14="http://schemas.microsoft.com/office/powerpoint/2010/main" val="1639194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2B42E-816D-4011-852D-5A4D1E07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8DFF"/>
                </a:solidFill>
              </a:defRPr>
            </a:pPr>
            <a:r>
              <a:rPr sz="1050" b="1">
                <a:solidFill>
                  <a:srgbClr val="1C8DFF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2A843-CCF5-47F1-8848-47601B7B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Kavach is ready to operate as a secure industrial intelligence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CB6A1-6D26-47AB-888C-303F22B0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EB750-BADC-4B5C-98CA-DDA11E83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0D8"/>
          </a:solidFill>
          <a:ln xmlns:a="http://schemas.openxmlformats.org/drawingml/2006/main" w="0">
            <a:solidFill>
              <a:srgbClr val="CAD0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3C7EB-D26A-4609-B7E0-1353D21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KAVACH production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5712-8E88-4E88-B76E-5401140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0F19"/>
                </a:solidFill>
              </a:defRPr>
            </a:pPr>
            <a:r>
              <a:rPr sz="1950" b="0">
                <a:solidFill>
                  <a:srgbClr val="0B0F19"/>
                </a:solidFill>
              </a:rPr>
              <a:t>The project now combines a production frontend, hardened backend, live realtime channel, MongoDB readiness, deployment documentation, and operational QA into one coherent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788A1-90C8-4E5B-94D4-F7137637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382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1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7DF77-94A6-492F-8871-1A5075D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8DFF"/>
                </a:solidFill>
              </a:defRPr>
            </a:pPr>
            <a:r>
              <a:rPr sz="1800" b="1">
                <a:solidFill>
                  <a:srgbClr val="1C8DFF"/>
                </a:solidFill>
              </a:rPr>
              <a:t>Core takeaway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A9AEB-E3A7-4D53-9154-3BDA4DF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Kavach helps plant teams see machine health, understand risk, and act through maintenance, alerts, audit, reports, and AI-assisted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F2FE6-B12E-4BA4-B6E8-F3A9B21C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Next step: deploy, verify production login, monitor health, and rotate seeded credentials after handoff.</a:t>
            </a:r>
          </a:p>
        </p:txBody>
      </p:sp>
    </p:spTree>
    <p:extLst>
      <p:ext uri="{BB962C8B-B14F-4D97-AF65-F5344CB8AC3E}">
        <p14:creationId xmlns:p14="http://schemas.microsoft.com/office/powerpoint/2010/main" val="168205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2026-07-13T10:57:46.0450000Z</dcterms:created>
  <dcterms:modified xsi:type="dcterms:W3CDTF">2026-07-13T10:57:46.0460000Z</dcterms:modified>
</coreProperties>
</file>